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533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Rishabh</a:t>
            </a:r>
            <a:r>
              <a:rPr spc="-5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Rishabh</a:t>
            </a:r>
            <a:r>
              <a:rPr spc="-5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Rishabh</a:t>
            </a:r>
            <a:r>
              <a:rPr spc="-50" dirty="0"/>
              <a:t> </a:t>
            </a:r>
            <a:r>
              <a:rPr spc="-10" dirty="0"/>
              <a:t>Mishra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Rishabh</a:t>
            </a:r>
            <a:r>
              <a:rPr spc="-50" dirty="0"/>
              <a:t> </a:t>
            </a:r>
            <a:r>
              <a:rPr spc="-10" dirty="0"/>
              <a:t>Mishra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1904" y="270636"/>
            <a:ext cx="2028189" cy="18841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443353" cy="336080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61981" y="0"/>
            <a:ext cx="2430018" cy="338975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32855" y="2154707"/>
            <a:ext cx="539711" cy="53972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05244" y="2353576"/>
            <a:ext cx="359384" cy="35939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27345" y="2345575"/>
            <a:ext cx="359384" cy="3593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Rishabh</a:t>
            </a:r>
            <a:r>
              <a:rPr spc="-50" dirty="0"/>
              <a:t> </a:t>
            </a:r>
            <a:r>
              <a:rPr spc="-10" dirty="0"/>
              <a:t>Mishra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632015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750" y="1504696"/>
            <a:ext cx="9672955" cy="4531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22697" y="6464680"/>
            <a:ext cx="254635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Rishabh</a:t>
            </a:r>
            <a:r>
              <a:rPr spc="-5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02689" y="1292097"/>
            <a:ext cx="8782685" cy="193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2460">
              <a:lnSpc>
                <a:spcPts val="7525"/>
              </a:lnSpc>
              <a:spcBef>
                <a:spcPts val="100"/>
              </a:spcBef>
            </a:pPr>
            <a:r>
              <a:rPr sz="6600" b="1" dirty="0">
                <a:latin typeface="Arial"/>
                <a:cs typeface="Arial"/>
              </a:rPr>
              <a:t>Churn</a:t>
            </a:r>
            <a:r>
              <a:rPr sz="6600" b="1" spc="-459" dirty="0">
                <a:latin typeface="Arial"/>
                <a:cs typeface="Arial"/>
              </a:rPr>
              <a:t> </a:t>
            </a:r>
            <a:r>
              <a:rPr sz="6600" b="1" dirty="0">
                <a:latin typeface="Arial"/>
                <a:cs typeface="Arial"/>
              </a:rPr>
              <a:t>Analysis</a:t>
            </a:r>
            <a:r>
              <a:rPr sz="6600" b="1" spc="-245" dirty="0">
                <a:latin typeface="Arial"/>
                <a:cs typeface="Arial"/>
              </a:rPr>
              <a:t> </a:t>
            </a:r>
            <a:r>
              <a:rPr sz="6600" spc="-25" dirty="0">
                <a:latin typeface="Arial MT"/>
                <a:cs typeface="Arial MT"/>
              </a:rPr>
              <a:t>and</a:t>
            </a:r>
            <a:endParaRPr sz="6600">
              <a:latin typeface="Arial MT"/>
              <a:cs typeface="Arial MT"/>
            </a:endParaRPr>
          </a:p>
          <a:p>
            <a:pPr marL="12700">
              <a:lnSpc>
                <a:spcPts val="7525"/>
              </a:lnSpc>
            </a:pPr>
            <a:r>
              <a:rPr sz="6600" b="1" dirty="0">
                <a:latin typeface="Arial"/>
                <a:cs typeface="Arial"/>
              </a:rPr>
              <a:t>Customer</a:t>
            </a:r>
            <a:r>
              <a:rPr sz="6600" b="1" spc="-35" dirty="0">
                <a:latin typeface="Arial"/>
                <a:cs typeface="Arial"/>
              </a:rPr>
              <a:t> </a:t>
            </a:r>
            <a:r>
              <a:rPr sz="6600" b="1" spc="-10" dirty="0">
                <a:latin typeface="Arial"/>
                <a:cs typeface="Arial"/>
              </a:rPr>
              <a:t>Intelligence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77200" y="4495800"/>
            <a:ext cx="1491616" cy="391773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800" i="1" dirty="0">
                <a:latin typeface="Calibri"/>
                <a:cs typeface="Calibri"/>
              </a:rPr>
              <a:t>By</a:t>
            </a:r>
            <a:r>
              <a:rPr lang="en-US" i="1" spc="-50" dirty="0">
                <a:latin typeface="Calibri"/>
                <a:cs typeface="Calibri"/>
              </a:rPr>
              <a:t> Anish Kumar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453897"/>
            <a:ext cx="8573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/>
              <a:t>You</a:t>
            </a:r>
            <a:r>
              <a:rPr sz="3600" spc="-105" dirty="0"/>
              <a:t> </a:t>
            </a:r>
            <a:r>
              <a:rPr sz="3600" spc="-20" dirty="0"/>
              <a:t>Learn</a:t>
            </a:r>
            <a:r>
              <a:rPr sz="3600" spc="-185" dirty="0"/>
              <a:t> </a:t>
            </a:r>
            <a:r>
              <a:rPr sz="3200" dirty="0"/>
              <a:t>–</a:t>
            </a:r>
            <a:r>
              <a:rPr sz="3200" spc="-95" dirty="0"/>
              <a:t> </a:t>
            </a:r>
            <a:r>
              <a:rPr sz="3200" dirty="0"/>
              <a:t>Churn</a:t>
            </a:r>
            <a:r>
              <a:rPr sz="3200" spc="-80" dirty="0"/>
              <a:t> </a:t>
            </a:r>
            <a:r>
              <a:rPr sz="3200" dirty="0"/>
              <a:t>Analysis</a:t>
            </a:r>
            <a:r>
              <a:rPr sz="3200" spc="-55" dirty="0"/>
              <a:t> </a:t>
            </a:r>
            <a:r>
              <a:rPr sz="3200" dirty="0"/>
              <a:t>&amp;</a:t>
            </a:r>
            <a:r>
              <a:rPr sz="3200" spc="-60" dirty="0"/>
              <a:t> </a:t>
            </a:r>
            <a:r>
              <a:rPr sz="3200" dirty="0"/>
              <a:t>Customer</a:t>
            </a:r>
            <a:r>
              <a:rPr sz="3200" spc="-55" dirty="0"/>
              <a:t> </a:t>
            </a:r>
            <a:r>
              <a:rPr sz="3200" spc="-10" dirty="0"/>
              <a:t>Intelligence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88340" y="1185189"/>
            <a:ext cx="10807700" cy="49276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251460" algn="l"/>
              </a:tabLst>
            </a:pP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Business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Challenge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1820"/>
              </a:lnSpc>
              <a:spcBef>
                <a:spcPts val="985"/>
              </a:spcBef>
            </a:pPr>
            <a:r>
              <a:rPr sz="1900" dirty="0">
                <a:latin typeface="Calibri"/>
                <a:cs typeface="Calibri"/>
              </a:rPr>
              <a:t>In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hyper-</a:t>
            </a:r>
            <a:r>
              <a:rPr sz="1900" dirty="0">
                <a:latin typeface="Calibri"/>
                <a:cs typeface="Calibri"/>
              </a:rPr>
              <a:t>competitive OTT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landscape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(Netflix,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Hotstar,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Prime),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retention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way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survive.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45" dirty="0">
                <a:latin typeface="Calibri"/>
                <a:cs typeface="Calibri"/>
              </a:rPr>
              <a:t>You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will </a:t>
            </a:r>
            <a:r>
              <a:rPr sz="1900" dirty="0">
                <a:latin typeface="Calibri"/>
                <a:cs typeface="Calibri"/>
              </a:rPr>
              <a:t>act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Analyst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tasked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identifying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high-</a:t>
            </a:r>
            <a:r>
              <a:rPr sz="1900" dirty="0">
                <a:latin typeface="Calibri"/>
                <a:cs typeface="Calibri"/>
              </a:rPr>
              <a:t>risk</a:t>
            </a:r>
            <a:r>
              <a:rPr sz="1900" spc="-10" dirty="0">
                <a:latin typeface="Calibri"/>
                <a:cs typeface="Calibri"/>
              </a:rPr>
              <a:t> subscribers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multi-</a:t>
            </a:r>
            <a:r>
              <a:rPr sz="1900" dirty="0">
                <a:latin typeface="Calibri"/>
                <a:cs typeface="Calibri"/>
              </a:rPr>
              <a:t>dimensional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dataset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(Customer demographics,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Subscription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tiers,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Support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escalations).</a:t>
            </a:r>
            <a:endParaRPr sz="19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spcBef>
                <a:spcPts val="2150"/>
              </a:spcBef>
              <a:buAutoNum type="arabicPeriod" startAt="2"/>
              <a:tabLst>
                <a:tab pos="251460" algn="l"/>
              </a:tabLst>
            </a:pPr>
            <a:r>
              <a:rPr sz="1900" b="1" dirty="0">
                <a:latin typeface="Calibri"/>
                <a:cs typeface="Calibri"/>
              </a:rPr>
              <a:t>Core</a:t>
            </a:r>
            <a:r>
              <a:rPr sz="1900" b="1" spc="-75" dirty="0">
                <a:latin typeface="Calibri"/>
                <a:cs typeface="Calibri"/>
              </a:rPr>
              <a:t> </a:t>
            </a:r>
            <a:r>
              <a:rPr sz="1900" b="1" spc="-30" dirty="0">
                <a:latin typeface="Calibri"/>
                <a:cs typeface="Calibri"/>
              </a:rPr>
              <a:t>Tech</a:t>
            </a:r>
            <a:r>
              <a:rPr sz="1900" b="1" spc="-65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Stack</a:t>
            </a:r>
            <a:endParaRPr sz="1900">
              <a:latin typeface="Calibri"/>
              <a:cs typeface="Calibri"/>
            </a:endParaRPr>
          </a:p>
          <a:p>
            <a:pPr marL="12700" marR="661035">
              <a:lnSpc>
                <a:spcPct val="110000"/>
              </a:lnSpc>
              <a:spcBef>
                <a:spcPts val="430"/>
              </a:spcBef>
            </a:pPr>
            <a:r>
              <a:rPr sz="1900" dirty="0">
                <a:latin typeface="Calibri"/>
                <a:cs typeface="Calibri"/>
              </a:rPr>
              <a:t>SQL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&amp;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Python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Integration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(</a:t>
            </a:r>
            <a:r>
              <a:rPr sz="1900" i="1" spc="-20" dirty="0">
                <a:latin typeface="Calibri"/>
                <a:cs typeface="Calibri"/>
              </a:rPr>
              <a:t>numpy,</a:t>
            </a:r>
            <a:r>
              <a:rPr sz="1900" i="1" spc="-7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pandas,</a:t>
            </a:r>
            <a:r>
              <a:rPr sz="1900" i="1" spc="-4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sqlite3,</a:t>
            </a:r>
            <a:r>
              <a:rPr sz="1900" i="1" spc="-3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matplotlib,</a:t>
            </a:r>
            <a:r>
              <a:rPr sz="1900" i="1" spc="-4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seaborn</a:t>
            </a:r>
            <a:r>
              <a:rPr sz="1900" spc="-10" dirty="0">
                <a:latin typeface="Calibri"/>
                <a:cs typeface="Calibri"/>
              </a:rPr>
              <a:t>),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Performance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Engineering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</a:t>
            </a:r>
            <a:r>
              <a:rPr sz="1900" i="1" spc="-10" dirty="0">
                <a:latin typeface="Calibri"/>
                <a:cs typeface="Calibri"/>
              </a:rPr>
              <a:t>data </a:t>
            </a:r>
            <a:r>
              <a:rPr sz="1900" i="1" dirty="0">
                <a:latin typeface="Calibri"/>
                <a:cs typeface="Calibri"/>
              </a:rPr>
              <a:t>cleaning,</a:t>
            </a:r>
            <a:r>
              <a:rPr sz="1900" i="1" spc="-50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feature</a:t>
            </a:r>
            <a:r>
              <a:rPr sz="1900" i="1" spc="-65" dirty="0">
                <a:latin typeface="Calibri"/>
                <a:cs typeface="Calibri"/>
              </a:rPr>
              <a:t> </a:t>
            </a:r>
            <a:r>
              <a:rPr sz="1900" i="1" dirty="0">
                <a:latin typeface="Calibri"/>
                <a:cs typeface="Calibri"/>
              </a:rPr>
              <a:t>engineering,</a:t>
            </a:r>
            <a:r>
              <a:rPr sz="1900" i="1" spc="-20" dirty="0">
                <a:latin typeface="Calibri"/>
                <a:cs typeface="Calibri"/>
              </a:rPr>
              <a:t> </a:t>
            </a:r>
            <a:r>
              <a:rPr sz="1900" i="1" spc="-10" dirty="0">
                <a:latin typeface="Calibri"/>
                <a:cs typeface="Calibri"/>
              </a:rPr>
              <a:t>analytics</a:t>
            </a:r>
            <a:r>
              <a:rPr sz="1900" spc="-10" dirty="0">
                <a:latin typeface="Calibri"/>
                <a:cs typeface="Calibri"/>
              </a:rPr>
              <a:t>),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Behavioral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Visualization,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Writing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Actionable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Insights</a:t>
            </a:r>
            <a:endParaRPr sz="19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spcBef>
                <a:spcPts val="2295"/>
              </a:spcBef>
              <a:buAutoNum type="arabicPeriod" startAt="3"/>
              <a:tabLst>
                <a:tab pos="251460" algn="l"/>
              </a:tabLst>
            </a:pPr>
            <a:r>
              <a:rPr sz="1900" b="1" dirty="0">
                <a:latin typeface="Calibri"/>
                <a:cs typeface="Calibri"/>
              </a:rPr>
              <a:t>Project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Milestones</a:t>
            </a:r>
            <a:endParaRPr sz="190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alibri"/>
                <a:cs typeface="Calibri"/>
              </a:rPr>
              <a:t>Relational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Extraction: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Connecting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Python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SQL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databases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pull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multi-</a:t>
            </a:r>
            <a:r>
              <a:rPr sz="1900" dirty="0">
                <a:latin typeface="Calibri"/>
                <a:cs typeface="Calibri"/>
              </a:rPr>
              <a:t>table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datasets.</a:t>
            </a:r>
            <a:endParaRPr sz="190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dirty="0">
                <a:latin typeface="Calibri"/>
                <a:cs typeface="Calibri"/>
              </a:rPr>
              <a:t>Advanced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Feature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Engineering: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8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imports,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calculating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tenure,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churn</a:t>
            </a:r>
            <a:r>
              <a:rPr sz="1900" spc="-8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rates,</a:t>
            </a:r>
            <a:r>
              <a:rPr sz="1900" spc="-9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customer</a:t>
            </a:r>
            <a:r>
              <a:rPr sz="1900" spc="-9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aging.</a:t>
            </a:r>
            <a:endParaRPr sz="190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40029" algn="l"/>
              </a:tabLst>
            </a:pPr>
            <a:r>
              <a:rPr sz="1900" spc="-10" dirty="0">
                <a:latin typeface="Calibri"/>
                <a:cs typeface="Calibri"/>
              </a:rPr>
              <a:t>Executive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Reporting: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Translating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technical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findings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billion-</a:t>
            </a:r>
            <a:r>
              <a:rPr sz="1900" dirty="0">
                <a:latin typeface="Calibri"/>
                <a:cs typeface="Calibri"/>
              </a:rPr>
              <a:t>dollar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business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insights.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900">
              <a:latin typeface="Calibri"/>
              <a:cs typeface="Calibri"/>
            </a:endParaRPr>
          </a:p>
          <a:p>
            <a:pPr marL="12700" marR="262890">
              <a:lnSpc>
                <a:spcPct val="80000"/>
              </a:lnSpc>
            </a:pPr>
            <a:r>
              <a:rPr sz="2000" b="1" i="1" dirty="0">
                <a:latin typeface="Calibri"/>
                <a:cs typeface="Calibri"/>
              </a:rPr>
              <a:t>Note: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This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isn't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just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coding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exercise,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it’s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business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solution.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You’ll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leave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with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portfolio-</a:t>
            </a:r>
            <a:r>
              <a:rPr sz="2000" i="1" dirty="0">
                <a:latin typeface="Calibri"/>
                <a:cs typeface="Calibri"/>
              </a:rPr>
              <a:t>ready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project </a:t>
            </a:r>
            <a:r>
              <a:rPr sz="2000" i="1" dirty="0">
                <a:latin typeface="Calibri"/>
                <a:cs typeface="Calibri"/>
              </a:rPr>
              <a:t>applicable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E-</a:t>
            </a:r>
            <a:r>
              <a:rPr sz="2000" b="1" i="1" dirty="0">
                <a:latin typeface="Calibri"/>
                <a:cs typeface="Calibri"/>
              </a:rPr>
              <a:t>commerce,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SaaS,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Fintech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and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Adtech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industries</a:t>
            </a:r>
            <a:r>
              <a:rPr sz="2000" b="1" i="1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7965" y="631280"/>
            <a:ext cx="770390" cy="7703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410200" y="6404103"/>
            <a:ext cx="137160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Churn</a:t>
            </a:r>
            <a:r>
              <a:rPr spc="-175" dirty="0"/>
              <a:t> </a:t>
            </a:r>
            <a:r>
              <a:rPr spc="-30" dirty="0"/>
              <a:t>Analysis</a:t>
            </a:r>
            <a:r>
              <a:rPr spc="-165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35" dirty="0"/>
              <a:t>Roadmap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83547"/>
            <a:ext cx="8557895" cy="422656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Connect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SQL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Python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–</a:t>
            </a:r>
            <a:r>
              <a:rPr sz="2800" i="1" spc="-17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pandas</a:t>
            </a:r>
            <a:r>
              <a:rPr sz="2000" i="1" spc="-9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7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sqlite3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SQL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Python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–</a:t>
            </a:r>
            <a:r>
              <a:rPr sz="2800" i="1" spc="-17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pandas</a:t>
            </a:r>
            <a:r>
              <a:rPr sz="2000" i="1" spc="-7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sqlite3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Cleaning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–</a:t>
            </a:r>
            <a:r>
              <a:rPr sz="2800" i="1" spc="-18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numpy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pandas</a:t>
            </a:r>
            <a:endParaRPr sz="2000">
              <a:latin typeface="Calibri"/>
              <a:cs typeface="Calibri"/>
            </a:endParaRPr>
          </a:p>
          <a:p>
            <a:pPr marL="696595" lvl="1" indent="-22669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696595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rename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specific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QCs,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missing/null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Feature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Engineering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–</a:t>
            </a:r>
            <a:r>
              <a:rPr sz="2800" i="1" spc="-18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numpy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pandas</a:t>
            </a:r>
            <a:endParaRPr sz="2000">
              <a:latin typeface="Calibri"/>
              <a:cs typeface="Calibri"/>
            </a:endParaRPr>
          </a:p>
          <a:p>
            <a:pPr marL="696595" lvl="1" indent="-226695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696595" algn="l"/>
              </a:tabLst>
            </a:pP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calculated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transformation,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filters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Analysis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–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numpy</a:t>
            </a:r>
            <a:r>
              <a:rPr sz="2000" i="1" spc="-7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pandas</a:t>
            </a:r>
            <a:endParaRPr sz="2000">
              <a:latin typeface="Calibri"/>
              <a:cs typeface="Calibri"/>
            </a:endParaRPr>
          </a:p>
          <a:p>
            <a:pPr marL="696595" lvl="1" indent="-22669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696595" algn="l"/>
              </a:tabLst>
            </a:pPr>
            <a:r>
              <a:rPr sz="2000" dirty="0">
                <a:latin typeface="Calibri"/>
                <a:cs typeface="Calibri"/>
              </a:rPr>
              <a:t>EDA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aggregation,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group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by,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pivot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Visualization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–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matplotlib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seaborn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Insights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ppt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–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key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insights,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next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steps,</a:t>
            </a:r>
            <a:r>
              <a:rPr sz="2000" i="1" spc="-7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impact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show</a:t>
            </a:r>
            <a:r>
              <a:rPr sz="2000" i="1" spc="-8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resume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1838" y="754520"/>
            <a:ext cx="1009650" cy="8626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5383148" y="6266079"/>
            <a:ext cx="1425703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Churn</a:t>
            </a:r>
            <a:r>
              <a:rPr spc="-190" dirty="0"/>
              <a:t> </a:t>
            </a:r>
            <a:r>
              <a:rPr spc="-35" dirty="0"/>
              <a:t>Definition</a:t>
            </a:r>
            <a:r>
              <a:rPr spc="-175" dirty="0"/>
              <a:t> </a:t>
            </a:r>
            <a:r>
              <a:rPr dirty="0"/>
              <a:t>by</a:t>
            </a:r>
            <a:r>
              <a:rPr spc="-155" dirty="0"/>
              <a:t> </a:t>
            </a:r>
            <a:r>
              <a:rPr spc="-10" dirty="0"/>
              <a:t>Business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5088" y="755459"/>
            <a:ext cx="935291" cy="9351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1619758"/>
            <a:ext cx="739330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Churn analysis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figuring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business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you.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look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three</a:t>
            </a:r>
            <a:r>
              <a:rPr sz="1600" spc="-10" dirty="0">
                <a:latin typeface="Calibri"/>
                <a:cs typeface="Calibri"/>
              </a:rPr>
              <a:t> things: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Calibri"/>
                <a:cs typeface="Calibri"/>
              </a:rPr>
              <a:t>"Who":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Identifying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 </a:t>
            </a:r>
            <a:r>
              <a:rPr sz="1600" dirty="0">
                <a:latin typeface="Calibri"/>
                <a:cs typeface="Calibri"/>
              </a:rPr>
              <a:t>left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future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Calibri"/>
                <a:cs typeface="Calibri"/>
              </a:rPr>
              <a:t>"Why":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Analyzing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before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left.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Calibri"/>
                <a:cs typeface="Calibri"/>
              </a:rPr>
              <a:t>"When":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Finding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"danger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zone"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point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leave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3568953"/>
          <a:ext cx="5760720" cy="2569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Business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Type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Definition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SaaS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Subscription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canceled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E-commerce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purchase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days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Adtech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service/app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120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days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Streaming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Membership</a:t>
                      </a:r>
                      <a:r>
                        <a:rPr sz="1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inactive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Telecom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Account</a:t>
                      </a:r>
                      <a:r>
                        <a:rPr sz="1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terminated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Banking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transactions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months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Rishabh</a:t>
            </a:r>
            <a:r>
              <a:rPr spc="-50" dirty="0"/>
              <a:t> </a:t>
            </a:r>
            <a:r>
              <a:rPr spc="-10" dirty="0"/>
              <a:t>Mishra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Database</a:t>
            </a:r>
            <a:r>
              <a:rPr spc="-185" dirty="0"/>
              <a:t> </a:t>
            </a:r>
            <a:r>
              <a:rPr spc="-60" dirty="0"/>
              <a:t>Tables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22705" y="1642999"/>
            <a:ext cx="2765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Calibri Light"/>
                <a:cs typeface="Calibri Light"/>
              </a:rPr>
              <a:t>Database:</a:t>
            </a:r>
            <a:r>
              <a:rPr sz="2000" spc="-45" dirty="0">
                <a:latin typeface="Calibri Light"/>
                <a:cs typeface="Calibri Light"/>
              </a:rPr>
              <a:t> </a:t>
            </a:r>
            <a:r>
              <a:rPr sz="2000" spc="-10" dirty="0">
                <a:latin typeface="Calibri Light"/>
                <a:cs typeface="Calibri Light"/>
              </a:rPr>
              <a:t>customer_churn</a:t>
            </a:r>
            <a:endParaRPr sz="2000">
              <a:latin typeface="Calibri Light"/>
              <a:cs typeface="Calibr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8306" y="1027963"/>
            <a:ext cx="828878" cy="818108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1885" y="2111501"/>
          <a:ext cx="1458595" cy="2583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db_customer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E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customerid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country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State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gender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dob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interests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pincode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634995" y="2533142"/>
            <a:ext cx="1052195" cy="85725"/>
          </a:xfrm>
          <a:custGeom>
            <a:avLst/>
            <a:gdLst/>
            <a:ahLst/>
            <a:cxnLst/>
            <a:rect l="l" t="t" r="r" b="b"/>
            <a:pathLst>
              <a:path w="1052195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1052195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1052195" h="85725">
                <a:moveTo>
                  <a:pt x="185801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185801" y="57150"/>
                </a:lnTo>
                <a:lnTo>
                  <a:pt x="185801" y="28575"/>
                </a:lnTo>
                <a:close/>
              </a:path>
              <a:path w="1052195" h="85725">
                <a:moveTo>
                  <a:pt x="385826" y="28575"/>
                </a:moveTo>
                <a:lnTo>
                  <a:pt x="271526" y="28575"/>
                </a:lnTo>
                <a:lnTo>
                  <a:pt x="271526" y="57150"/>
                </a:lnTo>
                <a:lnTo>
                  <a:pt x="385826" y="57150"/>
                </a:lnTo>
                <a:lnTo>
                  <a:pt x="385826" y="28575"/>
                </a:lnTo>
                <a:close/>
              </a:path>
              <a:path w="1052195" h="85725">
                <a:moveTo>
                  <a:pt x="585851" y="28575"/>
                </a:moveTo>
                <a:lnTo>
                  <a:pt x="471551" y="28575"/>
                </a:lnTo>
                <a:lnTo>
                  <a:pt x="471551" y="57150"/>
                </a:lnTo>
                <a:lnTo>
                  <a:pt x="585851" y="57150"/>
                </a:lnTo>
                <a:lnTo>
                  <a:pt x="585851" y="28575"/>
                </a:lnTo>
                <a:close/>
              </a:path>
              <a:path w="1052195" h="85725">
                <a:moveTo>
                  <a:pt x="785876" y="28575"/>
                </a:moveTo>
                <a:lnTo>
                  <a:pt x="671576" y="28575"/>
                </a:lnTo>
                <a:lnTo>
                  <a:pt x="671576" y="57150"/>
                </a:lnTo>
                <a:lnTo>
                  <a:pt x="785876" y="57150"/>
                </a:lnTo>
                <a:lnTo>
                  <a:pt x="785876" y="28575"/>
                </a:lnTo>
                <a:close/>
              </a:path>
              <a:path w="1052195" h="85725">
                <a:moveTo>
                  <a:pt x="966343" y="0"/>
                </a:moveTo>
                <a:lnTo>
                  <a:pt x="966343" y="85725"/>
                </a:lnTo>
                <a:lnTo>
                  <a:pt x="1023577" y="57150"/>
                </a:lnTo>
                <a:lnTo>
                  <a:pt x="980694" y="57150"/>
                </a:lnTo>
                <a:lnTo>
                  <a:pt x="980694" y="28575"/>
                </a:lnTo>
                <a:lnTo>
                  <a:pt x="1023408" y="28575"/>
                </a:lnTo>
                <a:lnTo>
                  <a:pt x="966343" y="0"/>
                </a:lnTo>
                <a:close/>
              </a:path>
              <a:path w="1052195" h="85725">
                <a:moveTo>
                  <a:pt x="966343" y="28575"/>
                </a:moveTo>
                <a:lnTo>
                  <a:pt x="871601" y="28575"/>
                </a:lnTo>
                <a:lnTo>
                  <a:pt x="871601" y="57150"/>
                </a:lnTo>
                <a:lnTo>
                  <a:pt x="966343" y="57150"/>
                </a:lnTo>
                <a:lnTo>
                  <a:pt x="966343" y="28575"/>
                </a:lnTo>
                <a:close/>
              </a:path>
              <a:path w="1052195" h="85725">
                <a:moveTo>
                  <a:pt x="1023408" y="28575"/>
                </a:moveTo>
                <a:lnTo>
                  <a:pt x="980694" y="28575"/>
                </a:lnTo>
                <a:lnTo>
                  <a:pt x="980694" y="57150"/>
                </a:lnTo>
                <a:lnTo>
                  <a:pt x="1023577" y="57150"/>
                </a:lnTo>
                <a:lnTo>
                  <a:pt x="1052068" y="42925"/>
                </a:lnTo>
                <a:lnTo>
                  <a:pt x="1023408" y="28575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53688" y="2111501"/>
          <a:ext cx="2564130" cy="349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4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db_subscription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customerid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subscription_start_date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subscription_type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renewal_date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plan_type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contract_type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cancellation_date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cancellation_reason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monthly_charges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cltv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churn_score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562979" y="2528316"/>
            <a:ext cx="1052195" cy="85725"/>
          </a:xfrm>
          <a:custGeom>
            <a:avLst/>
            <a:gdLst/>
            <a:ahLst/>
            <a:cxnLst/>
            <a:rect l="l" t="t" r="r" b="b"/>
            <a:pathLst>
              <a:path w="1052195" h="85725">
                <a:moveTo>
                  <a:pt x="85725" y="0"/>
                </a:moveTo>
                <a:lnTo>
                  <a:pt x="0" y="42799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1052195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1052195" h="85725">
                <a:moveTo>
                  <a:pt x="185800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185800" y="57150"/>
                </a:lnTo>
                <a:lnTo>
                  <a:pt x="185800" y="28575"/>
                </a:lnTo>
                <a:close/>
              </a:path>
              <a:path w="1052195" h="85725">
                <a:moveTo>
                  <a:pt x="385825" y="28575"/>
                </a:moveTo>
                <a:lnTo>
                  <a:pt x="271525" y="28575"/>
                </a:lnTo>
                <a:lnTo>
                  <a:pt x="271525" y="57150"/>
                </a:lnTo>
                <a:lnTo>
                  <a:pt x="385825" y="57150"/>
                </a:lnTo>
                <a:lnTo>
                  <a:pt x="385825" y="28575"/>
                </a:lnTo>
                <a:close/>
              </a:path>
              <a:path w="1052195" h="85725">
                <a:moveTo>
                  <a:pt x="585851" y="28575"/>
                </a:moveTo>
                <a:lnTo>
                  <a:pt x="471550" y="28575"/>
                </a:lnTo>
                <a:lnTo>
                  <a:pt x="471550" y="57150"/>
                </a:lnTo>
                <a:lnTo>
                  <a:pt x="585851" y="57150"/>
                </a:lnTo>
                <a:lnTo>
                  <a:pt x="585851" y="28575"/>
                </a:lnTo>
                <a:close/>
              </a:path>
              <a:path w="1052195" h="85725">
                <a:moveTo>
                  <a:pt x="785876" y="28575"/>
                </a:moveTo>
                <a:lnTo>
                  <a:pt x="671576" y="28575"/>
                </a:lnTo>
                <a:lnTo>
                  <a:pt x="671576" y="57150"/>
                </a:lnTo>
                <a:lnTo>
                  <a:pt x="785876" y="57150"/>
                </a:lnTo>
                <a:lnTo>
                  <a:pt x="785876" y="28575"/>
                </a:lnTo>
                <a:close/>
              </a:path>
              <a:path w="1052195" h="85725">
                <a:moveTo>
                  <a:pt x="966343" y="0"/>
                </a:moveTo>
                <a:lnTo>
                  <a:pt x="966343" y="85725"/>
                </a:lnTo>
                <a:lnTo>
                  <a:pt x="1023408" y="57150"/>
                </a:lnTo>
                <a:lnTo>
                  <a:pt x="980694" y="57150"/>
                </a:lnTo>
                <a:lnTo>
                  <a:pt x="980694" y="28575"/>
                </a:lnTo>
                <a:lnTo>
                  <a:pt x="1023577" y="28575"/>
                </a:lnTo>
                <a:lnTo>
                  <a:pt x="966343" y="0"/>
                </a:lnTo>
                <a:close/>
              </a:path>
              <a:path w="1052195" h="85725">
                <a:moveTo>
                  <a:pt x="966343" y="28575"/>
                </a:moveTo>
                <a:lnTo>
                  <a:pt x="871601" y="28575"/>
                </a:lnTo>
                <a:lnTo>
                  <a:pt x="871601" y="57150"/>
                </a:lnTo>
                <a:lnTo>
                  <a:pt x="966343" y="57150"/>
                </a:lnTo>
                <a:lnTo>
                  <a:pt x="966343" y="28575"/>
                </a:lnTo>
                <a:close/>
              </a:path>
              <a:path w="1052195" h="85725">
                <a:moveTo>
                  <a:pt x="1023577" y="28575"/>
                </a:moveTo>
                <a:lnTo>
                  <a:pt x="980694" y="28575"/>
                </a:lnTo>
                <a:lnTo>
                  <a:pt x="980694" y="57150"/>
                </a:lnTo>
                <a:lnTo>
                  <a:pt x="1023408" y="57150"/>
                </a:lnTo>
                <a:lnTo>
                  <a:pt x="1052068" y="42799"/>
                </a:lnTo>
                <a:lnTo>
                  <a:pt x="1023577" y="28575"/>
                </a:lnTo>
                <a:close/>
              </a:path>
            </a:pathLst>
          </a:custGeom>
          <a:solidFill>
            <a:srgbClr val="445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751318" y="2103754"/>
          <a:ext cx="1681480" cy="2084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81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db_support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customerid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complaint_date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Escalations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csat_score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col_1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comment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7E7E7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822697" y="6464680"/>
            <a:ext cx="254635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095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Calculated</a:t>
            </a:r>
            <a:r>
              <a:rPr spc="-170" dirty="0"/>
              <a:t> </a:t>
            </a:r>
            <a:r>
              <a:rPr spc="-10" dirty="0"/>
              <a:t>metrics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1504696"/>
          <a:ext cx="9584055" cy="45389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535">
                <a:tc>
                  <a:txBody>
                    <a:bodyPr/>
                    <a:lstStyle/>
                    <a:p>
                      <a:pPr marL="3175">
                        <a:lnSpc>
                          <a:spcPts val="161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KPI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161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Formula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marL="3175">
                        <a:lnSpc>
                          <a:spcPts val="1655"/>
                        </a:lnSpc>
                        <a:spcBef>
                          <a:spcPts val="7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1655"/>
                        </a:lnSpc>
                        <a:spcBef>
                          <a:spcPts val="7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churned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">
                        <a:lnSpc>
                          <a:spcPts val="165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plan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type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10">
                        <a:lnSpc>
                          <a:spcPts val="1655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GROUP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plan_type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(Basic/Standard/Premium)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marL="3175">
                        <a:lnSpc>
                          <a:spcPts val="1655"/>
                        </a:lnSpc>
                        <a:spcBef>
                          <a:spcPts val="7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state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1655"/>
                        </a:lnSpc>
                        <a:spcBef>
                          <a:spcPts val="7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GROUP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country,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state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 marL="3175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Retention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161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1-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rate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">
                        <a:lnSpc>
                          <a:spcPts val="1655"/>
                        </a:lnSpc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ARPU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10">
                        <a:lnSpc>
                          <a:spcPts val="1655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SUM(monthly_charges)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COUNT(active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customerid)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">
                        <a:lnSpc>
                          <a:spcPts val="1655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customer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tenure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10">
                        <a:lnSpc>
                          <a:spcPts val="1655"/>
                        </a:lnSpc>
                        <a:spcBef>
                          <a:spcPts val="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AVG(DATEDIFF(cancellation_date</a:t>
                      </a:r>
                      <a:r>
                        <a:rPr sz="14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NOW(),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subscription_start_date))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">
                        <a:lnSpc>
                          <a:spcPts val="1655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risk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10">
                        <a:lnSpc>
                          <a:spcPts val="1655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SUM(monthly_charges)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WHERE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churn_score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&gt;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70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3175">
                        <a:lnSpc>
                          <a:spcPts val="1650"/>
                        </a:lnSpc>
                        <a:spcBef>
                          <a:spcPts val="1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Escalation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rate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1650"/>
                        </a:lnSpc>
                        <a:spcBef>
                          <a:spcPts val="141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SUM(escalations)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COUNT(complaints)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×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175">
                        <a:lnSpc>
                          <a:spcPts val="165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Avg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complaints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customer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810">
                        <a:lnSpc>
                          <a:spcPts val="165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COUNT(complaints)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COUNT(DISTINCT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customerid)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4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marL="3175">
                        <a:lnSpc>
                          <a:spcPts val="1650"/>
                        </a:lnSpc>
                        <a:spcBef>
                          <a:spcPts val="79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Correlation: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escalations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churn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1650"/>
                        </a:lnSpc>
                        <a:spcBef>
                          <a:spcPts val="7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churn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rate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escalations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≥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vs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822697" y="6464680"/>
            <a:ext cx="2546350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68017"/>
            <a:ext cx="10200005" cy="454533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600" b="1" spc="-10" dirty="0">
                <a:latin typeface="Calibri"/>
                <a:cs typeface="Calibri"/>
              </a:rPr>
              <a:t>Insights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  <a:tab pos="1903730" algn="l"/>
              </a:tabLst>
            </a:pP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Rate: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28.6%</a:t>
            </a:r>
            <a:r>
              <a:rPr sz="1600" dirty="0">
                <a:latin typeface="Calibri"/>
                <a:cs typeface="Calibri"/>
              </a:rPr>
              <a:t>	|</a:t>
            </a:r>
            <a:r>
              <a:rPr sz="1600" spc="3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Retention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Rate:</a:t>
            </a:r>
            <a:r>
              <a:rPr sz="1600" spc="3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71.4%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Most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basic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subscription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nothing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worry 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major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revenue </a:t>
            </a:r>
            <a:r>
              <a:rPr sz="1600" spc="-10" dirty="0">
                <a:latin typeface="Calibri"/>
                <a:cs typeface="Calibri"/>
              </a:rPr>
              <a:t>impact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Most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happened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month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2024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affected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Karnataka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spc="-10" dirty="0">
                <a:latin typeface="Calibri"/>
                <a:cs typeface="Calibri"/>
              </a:rPr>
              <a:t>Average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Tenure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(Days):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1,451</a:t>
            </a:r>
            <a:r>
              <a:rPr sz="1600" spc="3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2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ARPU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18.8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spc="-25" dirty="0">
                <a:latin typeface="Calibri"/>
                <a:cs typeface="Calibri"/>
              </a:rPr>
              <a:t>Total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Revenue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395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Revenue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74</a:t>
            </a:r>
            <a:r>
              <a:rPr sz="1600" spc="3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29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CLTV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2,047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%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Revenue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18%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monthly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annual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55.6%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8.3%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1600" b="1" dirty="0">
                <a:latin typeface="Calibri"/>
                <a:cs typeface="Calibri"/>
              </a:rPr>
              <a:t>Action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Items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Check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happened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Karnataka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price,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complaints,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issues,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etc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Did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Basic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plan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recently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changes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specially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month?</a:t>
            </a:r>
            <a:endParaRPr sz="1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Check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competitor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bcoz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moved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competitor</a:t>
            </a:r>
            <a:endParaRPr sz="160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Focus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‘High’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‘Med’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risk,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check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LTV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priority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list),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complaint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request,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issue.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Portfolio</a:t>
            </a:r>
            <a:r>
              <a:rPr spc="-160" dirty="0"/>
              <a:t> </a:t>
            </a:r>
            <a:r>
              <a:rPr spc="-40" dirty="0"/>
              <a:t>Project</a:t>
            </a:r>
            <a:r>
              <a:rPr spc="-15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380" y="1393291"/>
            <a:ext cx="10699115" cy="45497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Churn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&amp;</a:t>
            </a:r>
            <a:r>
              <a:rPr sz="1700" b="1" spc="-1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Revenue</a:t>
            </a:r>
            <a:r>
              <a:rPr sz="1700" b="1" spc="-4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Impact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71C4"/>
                </a:solidFill>
                <a:latin typeface="Calibri"/>
                <a:cs typeface="Calibri"/>
              </a:rPr>
              <a:t>(general</a:t>
            </a:r>
            <a:r>
              <a:rPr sz="1500" i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4471C4"/>
                </a:solidFill>
                <a:latin typeface="Calibri"/>
                <a:cs typeface="Calibri"/>
              </a:rPr>
              <a:t>summary)</a:t>
            </a:r>
            <a:endParaRPr sz="1500">
              <a:latin typeface="Calibri"/>
              <a:cs typeface="Calibri"/>
            </a:endParaRPr>
          </a:p>
          <a:p>
            <a:pPr marL="12700" marR="97155">
              <a:lnSpc>
                <a:spcPct val="90000"/>
              </a:lnSpc>
              <a:spcBef>
                <a:spcPts val="994"/>
              </a:spcBef>
            </a:pPr>
            <a:r>
              <a:rPr sz="1700" dirty="0">
                <a:latin typeface="Calibri"/>
                <a:cs typeface="Calibri"/>
              </a:rPr>
              <a:t>Engineered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end-</a:t>
            </a:r>
            <a:r>
              <a:rPr sz="1700" spc="-20" dirty="0">
                <a:latin typeface="Calibri"/>
                <a:cs typeface="Calibri"/>
              </a:rPr>
              <a:t>to-</a:t>
            </a:r>
            <a:r>
              <a:rPr sz="1700" dirty="0">
                <a:latin typeface="Calibri"/>
                <a:cs typeface="Calibri"/>
              </a:rPr>
              <a:t>end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churn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analytics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pipeline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for an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OTT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subscription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platform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 </a:t>
            </a:r>
            <a:r>
              <a:rPr sz="1700" spc="-10" dirty="0">
                <a:latin typeface="Calibri"/>
                <a:cs typeface="Calibri"/>
              </a:rPr>
              <a:t>integrating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multi-table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subscriber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across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acquisition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type,</a:t>
            </a:r>
            <a:r>
              <a:rPr sz="1700" spc="-10" dirty="0">
                <a:latin typeface="Calibri"/>
                <a:cs typeface="Calibri"/>
              </a:rPr>
              <a:t> contract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structure,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plan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tier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</a:t>
            </a:r>
            <a:r>
              <a:rPr sz="1700" b="1" dirty="0">
                <a:latin typeface="Calibri"/>
                <a:cs typeface="Calibri"/>
              </a:rPr>
              <a:t>20+</a:t>
            </a:r>
            <a:r>
              <a:rPr sz="1700" b="1" spc="-1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KPIs</a:t>
            </a:r>
            <a:r>
              <a:rPr sz="1700" dirty="0">
                <a:latin typeface="Calibri"/>
                <a:cs typeface="Calibri"/>
              </a:rPr>
              <a:t>).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Uncovered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significant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churn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disparity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between </a:t>
            </a:r>
            <a:r>
              <a:rPr sz="1700" dirty="0">
                <a:latin typeface="Calibri"/>
                <a:cs typeface="Calibri"/>
              </a:rPr>
              <a:t>monthly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annual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contract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segments,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quantified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MRR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leakage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b="1" spc="-20" dirty="0">
                <a:latin typeface="Calibri"/>
                <a:cs typeface="Calibri"/>
              </a:rPr>
              <a:t>CLTV</a:t>
            </a:r>
            <a:r>
              <a:rPr sz="1700" b="1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erosion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attributed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high-</a:t>
            </a:r>
            <a:r>
              <a:rPr sz="1700" b="1" dirty="0">
                <a:latin typeface="Calibri"/>
                <a:cs typeface="Calibri"/>
              </a:rPr>
              <a:t>risk</a:t>
            </a:r>
            <a:r>
              <a:rPr sz="1700" b="1" spc="-6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cohorts</a:t>
            </a:r>
            <a:r>
              <a:rPr sz="1700" dirty="0">
                <a:latin typeface="Calibri"/>
                <a:cs typeface="Calibri"/>
              </a:rPr>
              <a:t>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and </a:t>
            </a:r>
            <a:r>
              <a:rPr sz="1700" dirty="0">
                <a:latin typeface="Calibri"/>
                <a:cs typeface="Calibri"/>
              </a:rPr>
              <a:t>delivered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data-</a:t>
            </a:r>
            <a:r>
              <a:rPr sz="1700" dirty="0">
                <a:latin typeface="Calibri"/>
                <a:cs typeface="Calibri"/>
              </a:rPr>
              <a:t>backed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contract-</a:t>
            </a:r>
            <a:r>
              <a:rPr sz="1700" dirty="0">
                <a:latin typeface="Calibri"/>
                <a:cs typeface="Calibri"/>
              </a:rPr>
              <a:t>migration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retention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strategy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reduce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involuntary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subscriber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loss.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Risk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Scoring</a:t>
            </a:r>
            <a:r>
              <a:rPr sz="1700" b="1" spc="-2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&amp;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Segmentation</a:t>
            </a:r>
            <a:r>
              <a:rPr sz="1700" b="1" spc="-50" dirty="0"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71C4"/>
                </a:solidFill>
                <a:latin typeface="Calibri"/>
                <a:cs typeface="Calibri"/>
              </a:rPr>
              <a:t>(Risk</a:t>
            </a:r>
            <a:r>
              <a:rPr sz="1500" i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71C4"/>
                </a:solidFill>
                <a:latin typeface="Calibri"/>
                <a:cs typeface="Calibri"/>
              </a:rPr>
              <a:t>Analysis &amp;</a:t>
            </a:r>
            <a:r>
              <a:rPr sz="1500" i="1" spc="-10" dirty="0">
                <a:solidFill>
                  <a:srgbClr val="4471C4"/>
                </a:solidFill>
                <a:latin typeface="Calibri"/>
                <a:cs typeface="Calibri"/>
              </a:rPr>
              <a:t> Segmentation)</a:t>
            </a:r>
            <a:endParaRPr sz="1500">
              <a:latin typeface="Calibri"/>
              <a:cs typeface="Calibri"/>
            </a:endParaRPr>
          </a:p>
          <a:p>
            <a:pPr marL="12700" marR="235585">
              <a:lnSpc>
                <a:spcPct val="90000"/>
              </a:lnSpc>
              <a:spcBef>
                <a:spcPts val="994"/>
              </a:spcBef>
            </a:pPr>
            <a:r>
              <a:rPr sz="1700" dirty="0">
                <a:latin typeface="Calibri"/>
                <a:cs typeface="Calibri"/>
              </a:rPr>
              <a:t>Developed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multi-dimensional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churn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risk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scoring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synthesising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subscription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tenure,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plan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type,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support </a:t>
            </a:r>
            <a:r>
              <a:rPr sz="1700" dirty="0">
                <a:latin typeface="Calibri"/>
                <a:cs typeface="Calibri"/>
              </a:rPr>
              <a:t>escalation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signals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across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three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relational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tables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</a:t>
            </a:r>
            <a:r>
              <a:rPr sz="1700" b="1" dirty="0">
                <a:latin typeface="Calibri"/>
                <a:cs typeface="Calibri"/>
              </a:rPr>
              <a:t>20+</a:t>
            </a:r>
            <a:r>
              <a:rPr sz="1700" b="1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KPIs</a:t>
            </a:r>
            <a:r>
              <a:rPr sz="1700" dirty="0">
                <a:latin typeface="Calibri"/>
                <a:cs typeface="Calibri"/>
              </a:rPr>
              <a:t>),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segmented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customer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base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risk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tiers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composite </a:t>
            </a:r>
            <a:r>
              <a:rPr sz="1700" dirty="0">
                <a:latin typeface="Calibri"/>
                <a:cs typeface="Calibri"/>
              </a:rPr>
              <a:t>churn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scores,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exposed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significant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lifetime</a:t>
            </a:r>
            <a:r>
              <a:rPr sz="1700" b="1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value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gap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between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churned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retained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cohorts,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recommended </a:t>
            </a:r>
            <a:r>
              <a:rPr sz="1700" dirty="0">
                <a:latin typeface="Calibri"/>
                <a:cs typeface="Calibri"/>
              </a:rPr>
              <a:t>prioritising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Premium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annual-</a:t>
            </a:r>
            <a:r>
              <a:rPr sz="1700" dirty="0">
                <a:latin typeface="Calibri"/>
                <a:cs typeface="Calibri"/>
              </a:rPr>
              <a:t>plan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retention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over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Basic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monthly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acquisition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maximise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long-</a:t>
            </a:r>
            <a:r>
              <a:rPr sz="1700" dirty="0">
                <a:latin typeface="Calibri"/>
                <a:cs typeface="Calibri"/>
              </a:rPr>
              <a:t>term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revenue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yield.</a:t>
            </a:r>
            <a:endParaRPr sz="17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35"/>
              </a:spcBef>
              <a:buFont typeface="Arial MT"/>
              <a:buChar char="•"/>
              <a:tabLst>
                <a:tab pos="240665" algn="l"/>
              </a:tabLst>
            </a:pPr>
            <a:r>
              <a:rPr sz="1700" b="1" dirty="0">
                <a:latin typeface="Calibri"/>
                <a:cs typeface="Calibri"/>
              </a:rPr>
              <a:t>Support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Intelligence</a:t>
            </a:r>
            <a:r>
              <a:rPr sz="1700" b="1" spc="-5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&amp;</a:t>
            </a:r>
            <a:r>
              <a:rPr sz="1700" b="1" spc="-2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Cancellation</a:t>
            </a:r>
            <a:r>
              <a:rPr sz="1700" b="1" spc="-55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Analysis</a:t>
            </a:r>
            <a:r>
              <a:rPr sz="1700" b="1" spc="-15" dirty="0"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71C4"/>
                </a:solidFill>
                <a:latin typeface="Calibri"/>
                <a:cs typeface="Calibri"/>
              </a:rPr>
              <a:t>(working</a:t>
            </a:r>
            <a:r>
              <a:rPr sz="1500" i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71C4"/>
                </a:solidFill>
                <a:latin typeface="Calibri"/>
                <a:cs typeface="Calibri"/>
              </a:rPr>
              <a:t>on</a:t>
            </a:r>
            <a:r>
              <a:rPr sz="1500" i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4471C4"/>
                </a:solidFill>
                <a:latin typeface="Calibri"/>
                <a:cs typeface="Calibri"/>
              </a:rPr>
              <a:t>live</a:t>
            </a:r>
            <a:r>
              <a:rPr sz="1500" i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4471C4"/>
                </a:solidFill>
                <a:latin typeface="Calibri"/>
                <a:cs typeface="Calibri"/>
              </a:rPr>
              <a:t>data)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05"/>
              </a:spcBef>
            </a:pPr>
            <a:r>
              <a:rPr sz="1700" spc="-10" dirty="0">
                <a:latin typeface="Calibri"/>
                <a:cs typeface="Calibri"/>
              </a:rPr>
              <a:t>Performed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cross-</a:t>
            </a:r>
            <a:r>
              <a:rPr sz="1700" dirty="0">
                <a:latin typeface="Calibri"/>
                <a:cs typeface="Calibri"/>
              </a:rPr>
              <a:t>functional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support-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churn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correlation</a:t>
            </a:r>
            <a:r>
              <a:rPr sz="1700" b="1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analysis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joining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complaint,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escalation,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CSAT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with </a:t>
            </a:r>
            <a:r>
              <a:rPr sz="1700" spc="-10" dirty="0">
                <a:latin typeface="Calibri"/>
                <a:cs typeface="Calibri"/>
              </a:rPr>
              <a:t>subscription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records,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identified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that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escalated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support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interactions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were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disproportionately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concentrated</a:t>
            </a:r>
            <a:r>
              <a:rPr sz="1700" spc="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among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churned customers,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decomposed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cancellation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drivers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competitor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switching,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pricing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sensitivity,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content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dissatisfaction,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and </a:t>
            </a:r>
            <a:r>
              <a:rPr sz="1700" spc="-10" dirty="0">
                <a:latin typeface="Calibri"/>
                <a:cs typeface="Calibri"/>
              </a:rPr>
              <a:t>translated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findings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prioritised</a:t>
            </a:r>
            <a:r>
              <a:rPr sz="1700" b="1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product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pricing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roadmap</a:t>
            </a:r>
            <a:r>
              <a:rPr sz="1700" b="1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presented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platform's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b="1" dirty="0">
                <a:latin typeface="Calibri"/>
                <a:cs typeface="Calibri"/>
              </a:rPr>
              <a:t>growth</a:t>
            </a:r>
            <a:r>
              <a:rPr sz="1700" b="1" spc="-35" dirty="0">
                <a:latin typeface="Calibri"/>
                <a:cs typeface="Calibri"/>
              </a:rPr>
              <a:t> </a:t>
            </a:r>
            <a:r>
              <a:rPr sz="1700" b="1" spc="-10" dirty="0">
                <a:latin typeface="Calibri"/>
                <a:cs typeface="Calibri"/>
              </a:rPr>
              <a:t>team</a:t>
            </a:r>
            <a:r>
              <a:rPr sz="1700" spc="-10" dirty="0"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83148" y="6400800"/>
            <a:ext cx="1425703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Portfolio</a:t>
            </a:r>
            <a:r>
              <a:rPr spc="-160" dirty="0"/>
              <a:t> </a:t>
            </a:r>
            <a:r>
              <a:rPr spc="-40" dirty="0"/>
              <a:t>Project</a:t>
            </a:r>
            <a:r>
              <a:rPr spc="-15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380" y="1390072"/>
            <a:ext cx="10519410" cy="15163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b="1" dirty="0">
                <a:latin typeface="Calibri"/>
                <a:cs typeface="Calibri"/>
              </a:rPr>
              <a:t>Churn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Revenue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Impact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4471C4"/>
                </a:solidFill>
                <a:latin typeface="Calibri"/>
                <a:cs typeface="Calibri"/>
              </a:rPr>
              <a:t>(general</a:t>
            </a:r>
            <a:r>
              <a:rPr sz="1800" i="1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4471C4"/>
                </a:solidFill>
                <a:latin typeface="Calibri"/>
                <a:cs typeface="Calibri"/>
              </a:rPr>
              <a:t>summary</a:t>
            </a:r>
            <a:r>
              <a:rPr sz="1800" i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4471C4"/>
                </a:solidFill>
                <a:latin typeface="Calibri"/>
                <a:cs typeface="Calibri"/>
              </a:rPr>
              <a:t>+</a:t>
            </a:r>
            <a:r>
              <a:rPr sz="1800" i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4471C4"/>
                </a:solidFill>
                <a:latin typeface="Calibri"/>
                <a:cs typeface="Calibri"/>
              </a:rPr>
              <a:t>with</a:t>
            </a:r>
            <a:r>
              <a:rPr sz="1800" i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4471C4"/>
                </a:solidFill>
                <a:latin typeface="Calibri"/>
                <a:cs typeface="Calibri"/>
              </a:rPr>
              <a:t>numbers</a:t>
            </a:r>
            <a:r>
              <a:rPr sz="1800" i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4471C4"/>
                </a:solidFill>
                <a:latin typeface="Calibri"/>
                <a:cs typeface="Calibri"/>
              </a:rPr>
              <a:t>from</a:t>
            </a:r>
            <a:r>
              <a:rPr sz="1800" i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4471C4"/>
                </a:solidFill>
                <a:latin typeface="Calibri"/>
                <a:cs typeface="Calibri"/>
              </a:rPr>
              <a:t>dataset)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0"/>
              </a:spcBef>
            </a:pPr>
            <a:r>
              <a:rPr sz="1800" spc="-10" dirty="0">
                <a:latin typeface="Calibri"/>
                <a:cs typeface="Calibri"/>
              </a:rPr>
              <a:t>Engineered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end-to-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churn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analytics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pipeline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subscription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dataset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(20+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KPIs),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identifying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28.6% </a:t>
            </a:r>
            <a:r>
              <a:rPr sz="1800" dirty="0">
                <a:latin typeface="Calibri"/>
                <a:cs typeface="Calibri"/>
              </a:rPr>
              <a:t>overall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churn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surfacing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monthly-contract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subscribers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churned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55.6%,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6.7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8.3% </a:t>
            </a:r>
            <a:r>
              <a:rPr sz="1800" spc="-10" dirty="0">
                <a:latin typeface="Calibri"/>
                <a:cs typeface="Calibri"/>
              </a:rPr>
              <a:t>annual-contract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rate-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directly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$73.94/mo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MRR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leakage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$2,047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CLTV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erosion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six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at-</a:t>
            </a:r>
            <a:r>
              <a:rPr sz="1800" spc="-20" dirty="0">
                <a:latin typeface="Calibri"/>
                <a:cs typeface="Calibri"/>
              </a:rPr>
              <a:t>risk </a:t>
            </a:r>
            <a:r>
              <a:rPr sz="1800" spc="-10" dirty="0">
                <a:latin typeface="Calibri"/>
                <a:cs typeface="Calibri"/>
              </a:rPr>
              <a:t>customers,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enabling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targeted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contract-</a:t>
            </a:r>
            <a:r>
              <a:rPr sz="1800" dirty="0">
                <a:latin typeface="Calibri"/>
                <a:cs typeface="Calibri"/>
              </a:rPr>
              <a:t>migration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retention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strategy.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83148" y="6324600"/>
            <a:ext cx="1425703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0" dirty="0"/>
              <a:t> </a:t>
            </a:r>
            <a:endParaRPr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Churn</a:t>
            </a:r>
            <a:r>
              <a:rPr spc="-175" dirty="0"/>
              <a:t> </a:t>
            </a:r>
            <a:r>
              <a:rPr spc="-30" dirty="0"/>
              <a:t>Analysis</a:t>
            </a:r>
            <a:r>
              <a:rPr spc="-165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35" dirty="0"/>
              <a:t>Roadmap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483352" y="1605533"/>
            <a:ext cx="92710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775"/>
              </a:lnSpc>
            </a:pPr>
            <a:r>
              <a:rPr sz="2400" b="1" i="1" spc="-10" dirty="0">
                <a:latin typeface="Calibri"/>
                <a:cs typeface="Calibri"/>
              </a:rPr>
              <a:t>pandas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939" y="1579626"/>
            <a:ext cx="6042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5557520" algn="l"/>
              </a:tabLst>
            </a:pPr>
            <a:r>
              <a:rPr sz="2400" b="1" dirty="0">
                <a:latin typeface="Calibri"/>
                <a:cs typeface="Calibri"/>
              </a:rPr>
              <a:t>Connect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–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13447" y="1605533"/>
            <a:ext cx="84963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775"/>
              </a:lnSpc>
            </a:pPr>
            <a:r>
              <a:rPr sz="2400" b="1" i="1" spc="-10" dirty="0">
                <a:latin typeface="Calibri"/>
                <a:cs typeface="Calibri"/>
              </a:rPr>
              <a:t>sqlite3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8101838" y="754520"/>
            <a:ext cx="3476625" cy="5340350"/>
            <a:chOff x="8101838" y="754520"/>
            <a:chExt cx="3476625" cy="5340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7036" y="1443216"/>
              <a:ext cx="2430802" cy="46512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155302" y="1451483"/>
              <a:ext cx="2364740" cy="4576445"/>
            </a:xfrm>
            <a:custGeom>
              <a:avLst/>
              <a:gdLst/>
              <a:ahLst/>
              <a:cxnLst/>
              <a:rect l="l" t="t" r="r" b="b"/>
              <a:pathLst>
                <a:path w="2364740" h="4576445">
                  <a:moveTo>
                    <a:pt x="1152905" y="0"/>
                  </a:moveTo>
                  <a:lnTo>
                    <a:pt x="0" y="0"/>
                  </a:lnTo>
                  <a:lnTo>
                    <a:pt x="1211833" y="2288031"/>
                  </a:lnTo>
                  <a:lnTo>
                    <a:pt x="0" y="4576064"/>
                  </a:lnTo>
                  <a:lnTo>
                    <a:pt x="1152905" y="4576064"/>
                  </a:lnTo>
                  <a:lnTo>
                    <a:pt x="2364613" y="2288031"/>
                  </a:lnTo>
                  <a:lnTo>
                    <a:pt x="1152905" y="0"/>
                  </a:lnTo>
                  <a:close/>
                </a:path>
              </a:pathLst>
            </a:custGeom>
            <a:solidFill>
              <a:srgbClr val="FFD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1838" y="754520"/>
              <a:ext cx="1009650" cy="8626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22636" y="3355847"/>
              <a:ext cx="955548" cy="9555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48798" y="3381616"/>
              <a:ext cx="853706" cy="8537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49839" y="2334755"/>
              <a:ext cx="659917" cy="9906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76129" y="2361272"/>
              <a:ext cx="558647" cy="8881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58527" y="1476768"/>
              <a:ext cx="894575" cy="9479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84309" y="1502613"/>
              <a:ext cx="792695" cy="84688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24416" y="5373624"/>
              <a:ext cx="1074420" cy="5638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50577" y="5400751"/>
              <a:ext cx="971994" cy="4606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17608" y="4320540"/>
              <a:ext cx="1141463" cy="10927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43261" y="4346257"/>
              <a:ext cx="1040422" cy="99155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16939" y="2073402"/>
            <a:ext cx="7699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import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spc="-20" dirty="0">
                <a:latin typeface="Calibri"/>
                <a:cs typeface="Calibri"/>
              </a:rPr>
              <a:t>–</a:t>
            </a:r>
            <a:r>
              <a:rPr sz="2400" i="1" spc="-1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pandas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sqlite3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60776" y="2591561"/>
            <a:ext cx="88138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5"/>
              </a:lnSpc>
            </a:pPr>
            <a:r>
              <a:rPr sz="2400" b="1" i="1" spc="-10" dirty="0">
                <a:latin typeface="Calibri"/>
                <a:cs typeface="Calibri"/>
              </a:rPr>
              <a:t>numpy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6939" y="2565349"/>
            <a:ext cx="46589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  <a:tab pos="318008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Cleaning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–</a:t>
            </a:r>
            <a:r>
              <a:rPr sz="2400" i="1" dirty="0">
                <a:latin typeface="Calibri"/>
                <a:cs typeface="Calibri"/>
              </a:rPr>
              <a:t>	and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pandas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6939" y="2908807"/>
            <a:ext cx="7769225" cy="205295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rename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select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QCs,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missing/null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spc="-10" dirty="0">
                <a:latin typeface="Calibri"/>
                <a:cs typeface="Calibri"/>
              </a:rPr>
              <a:t>Feature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Engineering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–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numpy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pandas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calculated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transformation,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filters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Analysis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–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numpy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pandas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EDA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aggregation,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by, </a:t>
            </a:r>
            <a:r>
              <a:rPr sz="1800" dirty="0">
                <a:latin typeface="Calibri"/>
                <a:cs typeface="Calibri"/>
              </a:rPr>
              <a:t>pivot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table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03320" y="5083302"/>
            <a:ext cx="132461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400" b="1" i="1" spc="-10" dirty="0">
                <a:latin typeface="Calibri"/>
                <a:cs typeface="Calibri"/>
              </a:rPr>
              <a:t>matplotlib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6939" y="5057902"/>
            <a:ext cx="4662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417830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Visualization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–</a:t>
            </a:r>
            <a:r>
              <a:rPr sz="2400" i="1" dirty="0">
                <a:latin typeface="Calibri"/>
                <a:cs typeface="Calibri"/>
              </a:rPr>
              <a:t>	</a:t>
            </a:r>
            <a:r>
              <a:rPr sz="2400" i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34228" y="5083302"/>
            <a:ext cx="1032510" cy="3721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780"/>
              </a:lnSpc>
            </a:pPr>
            <a:r>
              <a:rPr sz="2400" b="1" i="1" spc="-10" dirty="0">
                <a:latin typeface="Calibri"/>
                <a:cs typeface="Calibri"/>
              </a:rPr>
              <a:t>seaborn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6939" y="5549900"/>
            <a:ext cx="69869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Insights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ppt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–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key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insights,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next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steps,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impact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show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resume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5383148" y="6373765"/>
            <a:ext cx="1425703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Analytics</a:t>
            </a:r>
            <a:r>
              <a:rPr spc="-20" dirty="0"/>
              <a:t> </a:t>
            </a:r>
            <a:r>
              <a:rPr dirty="0"/>
              <a:t>Project</a:t>
            </a:r>
            <a:endParaRPr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1209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MT</vt:lpstr>
      <vt:lpstr>Calibri</vt:lpstr>
      <vt:lpstr>Calibri Light</vt:lpstr>
      <vt:lpstr>Times New Roman</vt:lpstr>
      <vt:lpstr>Office Theme</vt:lpstr>
      <vt:lpstr>Churn Analysis and Customer Intelligence</vt:lpstr>
      <vt:lpstr>You Learn – Churn Analysis &amp; Customer Intelligence</vt:lpstr>
      <vt:lpstr>Churn Analysis - Roadmap</vt:lpstr>
      <vt:lpstr>Churn Definition by Business</vt:lpstr>
      <vt:lpstr>Database Tables</vt:lpstr>
      <vt:lpstr>Calculated metrics</vt:lpstr>
      <vt:lpstr>Insights</vt:lpstr>
      <vt:lpstr>Portfolio Project - Summary</vt:lpstr>
      <vt:lpstr>Portfolio Project - Summary</vt:lpstr>
      <vt:lpstr>Churn Analysis -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Analysis and Customer Intelligence</dc:title>
  <dc:creator>Rishabh Mishra</dc:creator>
  <cp:lastModifiedBy>ANISH KUMAR</cp:lastModifiedBy>
  <cp:revision>1</cp:revision>
  <dcterms:created xsi:type="dcterms:W3CDTF">2026-09-23T07:36:34Z</dcterms:created>
  <dcterms:modified xsi:type="dcterms:W3CDTF">2026-09-23T07:50:25Z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2026-07-05T00:00:00Z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2026-09-23T00:00:00Z</vt:filetime>
  </property>
  <property fmtid="{D5CDD505-2E9C-101B-9397-08002B2CF9AE}" pid="6" name="Producer">
    <vt:lpwstr>Microsoft® PowerPoint® 2021</vt:lpwstr>
  </property>
</Properties>
</file>